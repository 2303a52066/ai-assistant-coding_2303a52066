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lexandria Bold" charset="1" panose="00000000000000000000"/>
      <p:regular r:id="rId17"/>
    </p:embeddedFont>
    <p:embeddedFont>
      <p:font typeface="Garet Bold" charset="1" panose="00000000000000000000"/>
      <p:regular r:id="rId18"/>
    </p:embeddedFont>
    <p:embeddedFont>
      <p:font typeface="Times New Roman MT Bold" charset="1" panose="02030802070405020303"/>
      <p:regular r:id="rId19"/>
    </p:embeddedFont>
    <p:embeddedFont>
      <p:font typeface="Times New Roman MT" charset="1" panose="02030502070405020303"/>
      <p:regular r:id="rId20"/>
    </p:embeddedFont>
    <p:embeddedFont>
      <p:font typeface="Canva Sans" charset="1" panose="020B0503030501040103"/>
      <p:regular r:id="rId21"/>
    </p:embeddedFont>
    <p:embeddedFont>
      <p:font typeface="Alice" charset="1" panose="00000500000000000000"/>
      <p:regular r:id="rId22"/>
    </p:embeddedFont>
    <p:embeddedFont>
      <p:font typeface="Adlery Pro" charset="1" panose="00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jpe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3890343" y="5516388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212327">
            <a:off x="-1633813" y="4706943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2020970" y="4706943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176744">
            <a:off x="12281842" y="-3234705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2348517" y="-3496396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172337" y="3355558"/>
            <a:ext cx="12605901" cy="2636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4"/>
              </a:lnSpc>
            </a:pPr>
            <a:r>
              <a:rPr lang="en-US" b="true" sz="3774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AI-BASED CAREER GUIDANCE AND SKILL GAP ANALYZER</a:t>
            </a:r>
          </a:p>
          <a:p>
            <a:pPr algn="ctr">
              <a:lnSpc>
                <a:spcPts val="5284"/>
              </a:lnSpc>
            </a:pPr>
          </a:p>
          <a:p>
            <a:pPr algn="ctr">
              <a:lnSpc>
                <a:spcPts val="5284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6329569" y="6177437"/>
            <a:ext cx="4580930" cy="1935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21"/>
              </a:lnSpc>
            </a:pPr>
            <a:r>
              <a:rPr lang="en-US" sz="4443" b="true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Team members</a:t>
            </a:r>
          </a:p>
          <a:p>
            <a:pPr algn="ctr">
              <a:lnSpc>
                <a:spcPts val="3001"/>
              </a:lnSpc>
            </a:pPr>
            <a:r>
              <a:rPr lang="en-US" sz="2143" b="true">
                <a:solidFill>
                  <a:srgbClr val="3F3D3E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K.Ruchitha - 2303A52069</a:t>
            </a:r>
          </a:p>
          <a:p>
            <a:pPr algn="ctr">
              <a:lnSpc>
                <a:spcPts val="3001"/>
              </a:lnSpc>
            </a:pPr>
            <a:r>
              <a:rPr lang="en-US" sz="2143" b="true">
                <a:solidFill>
                  <a:srgbClr val="3F3D3E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G.Nithya - 2303A52066</a:t>
            </a:r>
          </a:p>
          <a:p>
            <a:pPr algn="ctr">
              <a:lnSpc>
                <a:spcPts val="3001"/>
              </a:lnSpc>
              <a:spcBef>
                <a:spcPct val="0"/>
              </a:spcBef>
            </a:pPr>
            <a:r>
              <a:rPr lang="en-US" b="true" sz="2143">
                <a:solidFill>
                  <a:srgbClr val="3F3D3E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97288" y="1873033"/>
            <a:ext cx="7052389" cy="2183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71"/>
              </a:lnSpc>
            </a:pPr>
            <a:r>
              <a:rPr lang="en-US" b="true" sz="6265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INTRODUCTION</a:t>
            </a:r>
          </a:p>
          <a:p>
            <a:pPr algn="ctr">
              <a:lnSpc>
                <a:spcPts val="8771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3681943" y="4021599"/>
            <a:ext cx="11400286" cy="2945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b="true" sz="3268">
                <a:solidFill>
                  <a:srgbClr val="54545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  <a:r>
              <a:rPr lang="en-US" sz="3268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Career selection is challenging for students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Lack of awareness about required skills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Traditional guidance is not personalized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AI helps provide smart career recommendations</a:t>
            </a:r>
          </a:p>
          <a:p>
            <a:pPr algn="l">
              <a:lnSpc>
                <a:spcPts val="4576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07934" y="2352666"/>
            <a:ext cx="12272132" cy="1006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6"/>
              </a:lnSpc>
            </a:pPr>
          </a:p>
          <a:p>
            <a:pPr algn="l">
              <a:lnSpc>
                <a:spcPts val="4926"/>
              </a:lnSpc>
            </a:pPr>
            <a:r>
              <a:rPr lang="en-US" sz="3518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1)</a:t>
            </a:r>
            <a:r>
              <a:rPr lang="en-US" sz="3518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suggest suitable career roles based on user skills</a:t>
            </a:r>
          </a:p>
          <a:p>
            <a:pPr algn="l">
              <a:lnSpc>
                <a:spcPts val="4926"/>
              </a:lnSpc>
            </a:pPr>
            <a:r>
              <a:rPr lang="en-US" sz="3518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2)To analyze skill gaps for each rol</a:t>
            </a:r>
          </a:p>
          <a:p>
            <a:pPr algn="l">
              <a:lnSpc>
                <a:spcPts val="4926"/>
              </a:lnSpc>
            </a:pPr>
            <a:r>
              <a:rPr lang="en-US" sz="3518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3)To provide a structured learning roadmap</a:t>
            </a:r>
          </a:p>
          <a:p>
            <a:pPr algn="l">
              <a:lnSpc>
                <a:spcPts val="4926"/>
              </a:lnSpc>
            </a:pPr>
            <a:r>
              <a:rPr lang="en-US" sz="3518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4)To support resume-based skill extraction</a:t>
            </a:r>
          </a:p>
          <a:p>
            <a:pPr algn="l">
              <a:lnSpc>
                <a:spcPts val="4926"/>
              </a:lnSpc>
            </a:pPr>
            <a:r>
              <a:rPr lang="en-US" sz="3518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5)To build a simple and user-friendly web application</a:t>
            </a:r>
          </a:p>
          <a:p>
            <a:pPr algn="l">
              <a:lnSpc>
                <a:spcPts val="4926"/>
              </a:lnSpc>
            </a:pPr>
          </a:p>
          <a:p>
            <a:pPr algn="l">
              <a:lnSpc>
                <a:spcPts val="4926"/>
              </a:lnSpc>
            </a:pPr>
          </a:p>
          <a:p>
            <a:pPr algn="l">
              <a:lnSpc>
                <a:spcPts val="4926"/>
              </a:lnSpc>
            </a:pPr>
          </a:p>
          <a:p>
            <a:pPr algn="l">
              <a:lnSpc>
                <a:spcPts val="4926"/>
              </a:lnSpc>
            </a:pPr>
          </a:p>
          <a:p>
            <a:pPr algn="l">
              <a:lnSpc>
                <a:spcPts val="4926"/>
              </a:lnSpc>
            </a:pPr>
          </a:p>
          <a:p>
            <a:pPr algn="l">
              <a:lnSpc>
                <a:spcPts val="4926"/>
              </a:lnSpc>
            </a:pPr>
          </a:p>
          <a:p>
            <a:pPr algn="l">
              <a:lnSpc>
                <a:spcPts val="4926"/>
              </a:lnSpc>
            </a:pPr>
          </a:p>
          <a:p>
            <a:pPr algn="l">
              <a:lnSpc>
                <a:spcPts val="4926"/>
              </a:lnSpc>
            </a:pPr>
          </a:p>
          <a:p>
            <a:pPr algn="l">
              <a:lnSpc>
                <a:spcPts val="4926"/>
              </a:lnSpc>
            </a:pPr>
          </a:p>
          <a:p>
            <a:pPr algn="l">
              <a:lnSpc>
                <a:spcPts val="4926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4452133" y="687362"/>
            <a:ext cx="8410448" cy="3137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5"/>
              </a:lnSpc>
            </a:pPr>
            <a:r>
              <a:rPr lang="en-US" b="true" sz="599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OBJECTIVES</a:t>
            </a:r>
          </a:p>
          <a:p>
            <a:pPr algn="ctr">
              <a:lnSpc>
                <a:spcPts val="8395"/>
              </a:lnSpc>
            </a:pPr>
          </a:p>
          <a:p>
            <a:pPr algn="ctr">
              <a:lnSpc>
                <a:spcPts val="8395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317483" y="6085054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1" y="0"/>
                </a:lnTo>
                <a:lnTo>
                  <a:pt x="4840371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90221" y="1892003"/>
            <a:ext cx="8307767" cy="2568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32"/>
              </a:lnSpc>
            </a:pPr>
            <a:r>
              <a:rPr lang="en-US" b="true" sz="738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STAKEHOLDERS</a:t>
            </a:r>
          </a:p>
          <a:p>
            <a:pPr algn="ctr">
              <a:lnSpc>
                <a:spcPts val="10332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0960736" y="4056142"/>
            <a:ext cx="5889308" cy="4565171"/>
            <a:chOff x="0" y="0"/>
            <a:chExt cx="912408" cy="7072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2408" cy="707264"/>
            </a:xfrm>
            <a:custGeom>
              <a:avLst/>
              <a:gdLst/>
              <a:ahLst/>
              <a:cxnLst/>
              <a:rect r="r" b="b" t="t" l="l"/>
              <a:pathLst>
                <a:path h="707264" w="912408">
                  <a:moveTo>
                    <a:pt x="0" y="0"/>
                  </a:moveTo>
                  <a:lnTo>
                    <a:pt x="912408" y="0"/>
                  </a:lnTo>
                  <a:lnTo>
                    <a:pt x="912408" y="707264"/>
                  </a:lnTo>
                  <a:lnTo>
                    <a:pt x="0" y="707264"/>
                  </a:lnTo>
                  <a:close/>
                </a:path>
              </a:pathLst>
            </a:custGeom>
            <a:blipFill>
              <a:blip r:embed="rId4"/>
              <a:stretch>
                <a:fillRect l="-8173" t="0" r="-8173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62624" y="4327381"/>
            <a:ext cx="8537443" cy="3318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5"/>
              </a:lnSpc>
            </a:pPr>
            <a:r>
              <a:rPr lang="en-US" sz="3168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1)Students → to identify career paths </a:t>
            </a:r>
          </a:p>
          <a:p>
            <a:pPr algn="l">
              <a:lnSpc>
                <a:spcPts val="4435"/>
              </a:lnSpc>
            </a:pPr>
            <a:r>
              <a:rPr lang="en-US" sz="3168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2)</a:t>
            </a:r>
            <a:r>
              <a:rPr lang="en-US" sz="3168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Job seekers → to improve skillsets </a:t>
            </a:r>
          </a:p>
          <a:p>
            <a:pPr algn="l">
              <a:lnSpc>
                <a:spcPts val="4435"/>
              </a:lnSpc>
            </a:pPr>
            <a:r>
              <a:rPr lang="en-US" sz="3168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3)</a:t>
            </a:r>
            <a:r>
              <a:rPr lang="en-US" sz="3168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Educational institutions → to guide students </a:t>
            </a:r>
          </a:p>
          <a:p>
            <a:pPr algn="l">
              <a:lnSpc>
                <a:spcPts val="4435"/>
              </a:lnSpc>
            </a:pPr>
            <a:r>
              <a:rPr lang="en-US" sz="3168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4)</a:t>
            </a:r>
            <a:r>
              <a:rPr lang="en-US" sz="3168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Developers → to enhance system further</a:t>
            </a:r>
          </a:p>
          <a:p>
            <a:pPr algn="l">
              <a:lnSpc>
                <a:spcPts val="4435"/>
              </a:lnSpc>
            </a:pPr>
          </a:p>
          <a:p>
            <a:pPr algn="l">
              <a:lnSpc>
                <a:spcPts val="3595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66463" y="921145"/>
            <a:ext cx="10319562" cy="1353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40"/>
              </a:lnSpc>
            </a:pPr>
            <a:r>
              <a:rPr lang="en-US" b="true" sz="3885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PROGRAMMING LANGUAGES &amp; TOOLS</a:t>
            </a:r>
          </a:p>
          <a:p>
            <a:pPr algn="ctr">
              <a:lnSpc>
                <a:spcPts val="544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769920" y="2248773"/>
            <a:ext cx="6923410" cy="7284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0702" indent="-375351" lvl="1">
              <a:lnSpc>
                <a:spcPts val="4867"/>
              </a:lnSpc>
              <a:buFont typeface="Arial"/>
              <a:buChar char="•"/>
            </a:pPr>
            <a:r>
              <a:rPr lang="en-US" sz="347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Python </a:t>
            </a:r>
          </a:p>
          <a:p>
            <a:pPr algn="l" marL="750702" indent="-375351" lvl="1">
              <a:lnSpc>
                <a:spcPts val="4867"/>
              </a:lnSpc>
              <a:buFont typeface="Arial"/>
              <a:buChar char="•"/>
            </a:pPr>
            <a:r>
              <a:rPr lang="en-US" sz="347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HTML </a:t>
            </a:r>
          </a:p>
          <a:p>
            <a:pPr algn="l" marL="750702" indent="-375351" lvl="1">
              <a:lnSpc>
                <a:spcPts val="4867"/>
              </a:lnSpc>
              <a:buFont typeface="Arial"/>
              <a:buChar char="•"/>
            </a:pPr>
            <a:r>
              <a:rPr lang="en-US" sz="347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CSS </a:t>
            </a:r>
          </a:p>
          <a:p>
            <a:pPr algn="l" marL="750702" indent="-375351" lvl="1">
              <a:lnSpc>
                <a:spcPts val="4867"/>
              </a:lnSpc>
              <a:buFont typeface="Arial"/>
              <a:buChar char="•"/>
            </a:pPr>
            <a:r>
              <a:rPr lang="en-US" sz="347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JavaScript </a:t>
            </a:r>
          </a:p>
          <a:p>
            <a:pPr algn="l" marL="750702" indent="-375351" lvl="1">
              <a:lnSpc>
                <a:spcPts val="4867"/>
              </a:lnSpc>
              <a:buFont typeface="Arial"/>
              <a:buChar char="•"/>
            </a:pPr>
            <a:r>
              <a:rPr lang="en-US" sz="347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Framework: </a:t>
            </a:r>
          </a:p>
          <a:p>
            <a:pPr algn="l" marL="750702" indent="-375351" lvl="1">
              <a:lnSpc>
                <a:spcPts val="4867"/>
              </a:lnSpc>
              <a:buFont typeface="Arial"/>
              <a:buChar char="•"/>
            </a:pPr>
            <a:r>
              <a:rPr lang="en-US" sz="347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Flask </a:t>
            </a:r>
          </a:p>
          <a:p>
            <a:pPr algn="l" marL="750702" indent="-375351" lvl="1">
              <a:lnSpc>
                <a:spcPts val="4867"/>
              </a:lnSpc>
              <a:buFont typeface="Arial"/>
              <a:buChar char="•"/>
            </a:pPr>
            <a:r>
              <a:rPr lang="en-US" sz="347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Libraries: </a:t>
            </a:r>
          </a:p>
          <a:p>
            <a:pPr algn="l" marL="750702" indent="-375351" lvl="1">
              <a:lnSpc>
                <a:spcPts val="4867"/>
              </a:lnSpc>
              <a:buFont typeface="Arial"/>
              <a:buChar char="•"/>
            </a:pPr>
            <a:r>
              <a:rPr lang="en-US" sz="347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PyPDF2 (for resume reading) </a:t>
            </a:r>
          </a:p>
          <a:p>
            <a:pPr algn="l" marL="750702" indent="-375351" lvl="1">
              <a:lnSpc>
                <a:spcPts val="4867"/>
              </a:lnSpc>
              <a:buFont typeface="Arial"/>
              <a:buChar char="•"/>
            </a:pPr>
            <a:r>
              <a:rPr lang="en-US" sz="347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Tools Used: </a:t>
            </a:r>
          </a:p>
          <a:p>
            <a:pPr algn="l" marL="750702" indent="-375351" lvl="1">
              <a:lnSpc>
                <a:spcPts val="4867"/>
              </a:lnSpc>
              <a:buFont typeface="Arial"/>
              <a:buChar char="•"/>
            </a:pPr>
            <a:r>
              <a:rPr lang="en-US" sz="347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VS Code </a:t>
            </a:r>
          </a:p>
          <a:p>
            <a:pPr algn="l" marL="750702" indent="-375351" lvl="1">
              <a:lnSpc>
                <a:spcPts val="4867"/>
              </a:lnSpc>
              <a:buFont typeface="Arial"/>
              <a:buChar char="•"/>
            </a:pPr>
            <a:r>
              <a:rPr lang="en-US" sz="347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Browser (Chrome)</a:t>
            </a:r>
          </a:p>
          <a:p>
            <a:pPr algn="l">
              <a:lnSpc>
                <a:spcPts val="4867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022195" y="-2746604"/>
            <a:ext cx="4780975" cy="4780975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32329" y="2045933"/>
            <a:ext cx="4831110" cy="1641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PROMPTS USED</a:t>
            </a:r>
          </a:p>
          <a:p>
            <a:pPr algn="ctr">
              <a:lnSpc>
                <a:spcPts val="6641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929438" y="4756073"/>
            <a:ext cx="9525" cy="256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628974" y="4008517"/>
            <a:ext cx="13240196" cy="2741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9703" indent="-209852" lvl="1">
              <a:lnSpc>
                <a:spcPts val="2721"/>
              </a:lnSpc>
              <a:buFont typeface="Arial"/>
              <a:buChar char="•"/>
            </a:pPr>
            <a:r>
              <a:rPr lang="en-US" sz="1943">
                <a:solidFill>
                  <a:srgbClr val="545454"/>
                </a:solidFill>
                <a:latin typeface="Alice"/>
                <a:ea typeface="Alice"/>
                <a:cs typeface="Alice"/>
                <a:sym typeface="Alice"/>
              </a:rPr>
              <a:t>Generate a Flask backend application that accepts user skills as input and recommends suitable career roles based on skill matching </a:t>
            </a:r>
          </a:p>
          <a:p>
            <a:pPr algn="l" marL="419703" indent="-209852" lvl="1">
              <a:lnSpc>
                <a:spcPts val="2721"/>
              </a:lnSpc>
              <a:buFont typeface="Arial"/>
              <a:buChar char="•"/>
            </a:pPr>
            <a:r>
              <a:rPr lang="en-US" sz="1943">
                <a:solidFill>
                  <a:srgbClr val="545454"/>
                </a:solidFill>
                <a:latin typeface="Alice"/>
                <a:ea typeface="Alice"/>
                <a:cs typeface="Alice"/>
                <a:sym typeface="Alice"/>
              </a:rPr>
              <a:t>Create a simple and clean HTML, CSS user interface with a white theme for entering skills and displaying career prediction results </a:t>
            </a:r>
          </a:p>
          <a:p>
            <a:pPr algn="l" marL="419703" indent="-209852" lvl="1">
              <a:lnSpc>
                <a:spcPts val="2721"/>
              </a:lnSpc>
              <a:buFont typeface="Arial"/>
              <a:buChar char="•"/>
            </a:pPr>
            <a:r>
              <a:rPr lang="en-US" sz="1943">
                <a:solidFill>
                  <a:srgbClr val="545454"/>
                </a:solidFill>
                <a:latin typeface="Alice"/>
                <a:ea typeface="Alice"/>
                <a:cs typeface="Alice"/>
                <a:sym typeface="Alice"/>
              </a:rPr>
              <a:t>Implement skill gap analysis logic in Python to identify missing skills required for each recommended career role </a:t>
            </a:r>
          </a:p>
          <a:p>
            <a:pPr algn="l" marL="419703" indent="-209852" lvl="1">
              <a:lnSpc>
                <a:spcPts val="2721"/>
              </a:lnSpc>
              <a:buFont typeface="Arial"/>
              <a:buChar char="•"/>
            </a:pPr>
            <a:r>
              <a:rPr lang="en-US" sz="1943">
                <a:solidFill>
                  <a:srgbClr val="545454"/>
                </a:solidFill>
                <a:latin typeface="Alice"/>
                <a:ea typeface="Alice"/>
                <a:cs typeface="Alice"/>
                <a:sym typeface="Alice"/>
              </a:rPr>
              <a:t>Develop JavaScript code to send user input to the Flask backend and dynamically display career roles, match score, and skill gaps. </a:t>
            </a:r>
          </a:p>
          <a:p>
            <a:pPr algn="l" marL="419703" indent="-209852" lvl="1">
              <a:lnSpc>
                <a:spcPts val="2721"/>
              </a:lnSpc>
              <a:buFont typeface="Arial"/>
              <a:buChar char="•"/>
            </a:pPr>
            <a:r>
              <a:rPr lang="en-US" sz="1943">
                <a:solidFill>
                  <a:srgbClr val="545454"/>
                </a:solidFill>
                <a:latin typeface="Alice"/>
                <a:ea typeface="Alice"/>
                <a:cs typeface="Alice"/>
                <a:sym typeface="Alice"/>
              </a:rPr>
              <a:t>Add functionality to generate a learning roadmap for each career role based on required skills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93156" y="3020130"/>
            <a:ext cx="7301790" cy="4864818"/>
          </a:xfrm>
          <a:custGeom>
            <a:avLst/>
            <a:gdLst/>
            <a:ahLst/>
            <a:cxnLst/>
            <a:rect r="r" b="b" t="t" l="l"/>
            <a:pathLst>
              <a:path h="4864818" w="7301790">
                <a:moveTo>
                  <a:pt x="0" y="0"/>
                </a:moveTo>
                <a:lnTo>
                  <a:pt x="7301790" y="0"/>
                </a:lnTo>
                <a:lnTo>
                  <a:pt x="7301790" y="4864818"/>
                </a:lnTo>
                <a:lnTo>
                  <a:pt x="0" y="48648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374862" y="1965021"/>
            <a:ext cx="4850861" cy="6356958"/>
          </a:xfrm>
          <a:custGeom>
            <a:avLst/>
            <a:gdLst/>
            <a:ahLst/>
            <a:cxnLst/>
            <a:rect r="r" b="b" t="t" l="l"/>
            <a:pathLst>
              <a:path h="6356958" w="4850861">
                <a:moveTo>
                  <a:pt x="0" y="0"/>
                </a:moveTo>
                <a:lnTo>
                  <a:pt x="4850860" y="0"/>
                </a:lnTo>
                <a:lnTo>
                  <a:pt x="4850860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7266" r="0" b="-7266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888963" y="885649"/>
            <a:ext cx="6439658" cy="1569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44"/>
              </a:lnSpc>
            </a:pPr>
            <a:r>
              <a:rPr lang="en-US" b="true" sz="453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WORK FLOW</a:t>
            </a:r>
          </a:p>
          <a:p>
            <a:pPr algn="ctr">
              <a:lnSpc>
                <a:spcPts val="6344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3090350" y="2064112"/>
            <a:ext cx="11356534" cy="6813920"/>
          </a:xfrm>
          <a:custGeom>
            <a:avLst/>
            <a:gdLst/>
            <a:ahLst/>
            <a:cxnLst/>
            <a:rect r="r" b="b" t="t" l="l"/>
            <a:pathLst>
              <a:path h="6813920" w="11356534">
                <a:moveTo>
                  <a:pt x="0" y="0"/>
                </a:moveTo>
                <a:lnTo>
                  <a:pt x="11356534" y="0"/>
                </a:lnTo>
                <a:lnTo>
                  <a:pt x="11356534" y="6813920"/>
                </a:lnTo>
                <a:lnTo>
                  <a:pt x="0" y="68139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586113" y="1070460"/>
            <a:ext cx="6780628" cy="240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27"/>
              </a:lnSpc>
            </a:pPr>
            <a:r>
              <a:rPr lang="en-US" b="true" sz="459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FRONT-END VIEW</a:t>
            </a:r>
          </a:p>
          <a:p>
            <a:pPr algn="ctr">
              <a:lnSpc>
                <a:spcPts val="6427"/>
              </a:lnSpc>
            </a:pPr>
          </a:p>
          <a:p>
            <a:pPr algn="ctr">
              <a:lnSpc>
                <a:spcPts val="6427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74655" y="1028700"/>
            <a:ext cx="11338689" cy="7866216"/>
          </a:xfrm>
          <a:custGeom>
            <a:avLst/>
            <a:gdLst/>
            <a:ahLst/>
            <a:cxnLst/>
            <a:rect r="r" b="b" t="t" l="l"/>
            <a:pathLst>
              <a:path h="7866216" w="11338689">
                <a:moveTo>
                  <a:pt x="0" y="0"/>
                </a:moveTo>
                <a:lnTo>
                  <a:pt x="11338690" y="0"/>
                </a:lnTo>
                <a:lnTo>
                  <a:pt x="11338690" y="7866216"/>
                </a:lnTo>
                <a:lnTo>
                  <a:pt x="0" y="78662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20970" y="717428"/>
            <a:ext cx="10646060" cy="3141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80"/>
              </a:lnSpc>
            </a:pPr>
            <a:r>
              <a:rPr lang="en-US" b="true" sz="5986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REFERENCES</a:t>
            </a:r>
          </a:p>
          <a:p>
            <a:pPr algn="ctr">
              <a:lnSpc>
                <a:spcPts val="8380"/>
              </a:lnSpc>
            </a:pPr>
          </a:p>
          <a:p>
            <a:pPr algn="ctr">
              <a:lnSpc>
                <a:spcPts val="838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35968" y="2640420"/>
            <a:ext cx="12589057" cy="4928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2208" indent="-306104" lvl="1">
              <a:lnSpc>
                <a:spcPts val="3969"/>
              </a:lnSpc>
              <a:buFont typeface="Arial"/>
              <a:buChar char="•"/>
            </a:pPr>
            <a:r>
              <a:rPr lang="en-US" sz="28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ChatGPT – used for AI-assisted code generation, </a:t>
            </a:r>
            <a:r>
              <a:rPr lang="en-US" sz="28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logic design, and debugging </a:t>
            </a:r>
          </a:p>
          <a:p>
            <a:pPr algn="l" marL="612208" indent="-306104" lvl="1">
              <a:lnSpc>
                <a:spcPts val="3969"/>
              </a:lnSpc>
              <a:buFont typeface="Arial"/>
              <a:buChar char="•"/>
            </a:pPr>
            <a:r>
              <a:rPr lang="en-US" sz="28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OpenAI – for natural language processing and  prompt-based development </a:t>
            </a:r>
          </a:p>
          <a:p>
            <a:pPr algn="l" marL="612208" indent="-306104" lvl="1">
              <a:lnSpc>
                <a:spcPts val="3969"/>
              </a:lnSpc>
              <a:buFont typeface="Arial"/>
              <a:buChar char="•"/>
            </a:pPr>
            <a:r>
              <a:rPr lang="en-US" sz="28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Flask – for building backend server and API endpoints </a:t>
            </a:r>
          </a:p>
          <a:p>
            <a:pPr algn="l" marL="612208" indent="-306104" lvl="1">
              <a:lnSpc>
                <a:spcPts val="3969"/>
              </a:lnSpc>
              <a:buFont typeface="Arial"/>
              <a:buChar char="•"/>
            </a:pPr>
            <a:r>
              <a:rPr lang="en-US" sz="28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PyPDF2 – for extracting text from uploaded resume files </a:t>
            </a:r>
          </a:p>
          <a:p>
            <a:pPr algn="l" marL="612208" indent="-306104" lvl="1">
              <a:lnSpc>
                <a:spcPts val="3969"/>
              </a:lnSpc>
              <a:buFont typeface="Arial"/>
              <a:buChar char="•"/>
            </a:pPr>
            <a:r>
              <a:rPr lang="en-US" sz="28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Visual Studio Code – used for development and  debugging </a:t>
            </a:r>
          </a:p>
          <a:p>
            <a:pPr algn="l" marL="612208" indent="-306104" lvl="1">
              <a:lnSpc>
                <a:spcPts val="3969"/>
              </a:lnSpc>
              <a:buFont typeface="Arial"/>
              <a:buChar char="•"/>
            </a:pPr>
            <a:r>
              <a:rPr lang="en-US" sz="28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GitHub – for version control and project management </a:t>
            </a:r>
          </a:p>
          <a:p>
            <a:pPr algn="l" marL="612208" indent="-306104" lvl="1">
              <a:lnSpc>
                <a:spcPts val="3969"/>
              </a:lnSpc>
              <a:buFont typeface="Arial"/>
              <a:buChar char="•"/>
            </a:pPr>
            <a:r>
              <a:rPr lang="en-US" sz="28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Google Chrome – for testing and running the  application</a:t>
            </a:r>
          </a:p>
          <a:p>
            <a:pPr algn="ctr">
              <a:lnSpc>
                <a:spcPts val="396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68325" y="3937069"/>
            <a:ext cx="12951349" cy="2079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07"/>
              </a:lnSpc>
            </a:pPr>
            <a:r>
              <a:rPr lang="en-US" sz="11505">
                <a:solidFill>
                  <a:srgbClr val="3F3D3E"/>
                </a:solidFill>
                <a:latin typeface="Adlery Pro"/>
                <a:ea typeface="Adlery Pro"/>
                <a:cs typeface="Adlery Pro"/>
                <a:sym typeface="Adlery Pro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DAHHAFXVdrw</dc:identifier>
  <dcterms:modified xsi:type="dcterms:W3CDTF">2011-08-01T06:04:30Z</dcterms:modified>
  <cp:revision>1</cp:revision>
  <dc:title>Grey Minimalist Professional Project Presentation</dc:title>
</cp:coreProperties>
</file>